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OREO consumes AI Factory capabilities wherever suitable and adds the Markets domain control layer that turns probabilistic model outputs into validated, auditable business outcomes.
Domain-owned (filled icon): processing packages, domain validators, routing &amp; gating, correction loop.
OREO standard (outlined icon): evidence &amp; provenance, result envelope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OREO consumes AI Factory capabilities wherever suitable and adds the Markets domain control layer that turns probabilistic model outputs into validated, auditable business outcomes.
Domain-owned (filled icon): processing packages, domain validators, routing &amp; gating, correction loop.
OREO standard (outlined icon): evidence &amp; provenance, result envelope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OREO capabilities strip"/>
          <p:cNvGrpSpPr/>
          <p:nvPr/>
        </p:nvGrpSpPr>
        <p:grpSpPr>
          <a:xfrm>
            <a:off x="320040" y="109728"/>
            <a:ext cx="11548872" cy="1188720"/>
            <a:chOff x="320040" y="109728"/>
            <a:chExt cx="11548872" cy="1188720"/>
          </a:xfrm>
        </p:grpSpPr>
        <p:sp>
          <p:nvSpPr>
            <p:cNvPr id="2" name="Shape 0"/>
            <p:cNvSpPr/>
            <p:nvPr/>
          </p:nvSpPr>
          <p:spPr>
            <a:xfrm>
              <a:off x="320040" y="109728"/>
              <a:ext cx="2468880" cy="1188720"/>
            </a:xfrm>
            <a:prstGeom prst="roundRect">
              <a:avLst>
                <a:gd name="adj" fmla="val 4615"/>
              </a:avLst>
            </a:prstGeom>
            <a:solidFill>
              <a:srgbClr val="EAF1F8"/>
            </a:solidFill>
            <a:ln w="9525">
              <a:solidFill>
                <a:srgbClr val="A9C1DB"/>
              </a:solidFill>
              <a:prstDash val="solid"/>
            </a:ln>
          </p:spPr>
        </p:sp>
        <p:sp>
          <p:nvSpPr>
            <p:cNvPr id="3" name="Text 1"/>
            <p:cNvSpPr txBox="1"/>
            <p:nvPr/>
          </p:nvSpPr>
          <p:spPr>
            <a:xfrm>
              <a:off x="429768" y="219456"/>
              <a:ext cx="749808" cy="201168"/>
            </a:xfrm>
            <a:prstGeom prst="roundRect">
              <a:avLst>
                <a:gd name="adj" fmla="val 18182"/>
              </a:avLst>
            </a:prstGeom>
            <a:solidFill>
              <a:srgbClr val="1F3A5F"/>
            </a:solidFill>
            <a:ln>
              <a:solidFill>
                <a:srgbClr val="1F3A5F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spc="15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CONSUMED</a:t>
              </a:r>
              <a:endParaRPr lang="en-US" sz="800" dirty="0"/>
            </a:p>
          </p:txBody>
        </p:sp>
        <p:sp>
          <p:nvSpPr>
            <p:cNvPr id="4" name="Text 2"/>
            <p:cNvSpPr txBox="1"/>
            <p:nvPr/>
          </p:nvSpPr>
          <p:spPr>
            <a:xfrm>
              <a:off x="1252728" y="18288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1F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Factory</a:t>
              </a:r>
              <a:endParaRPr lang="en-US" sz="1300" dirty="0"/>
            </a:p>
          </p:txBody>
        </p:sp>
        <p:pic>
          <p:nvPicPr>
            <p:cNvPr id="5" name="Image 0" descr="preencoded.png">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6344" y="544068"/>
              <a:ext cx="137160" cy="137160"/>
            </a:xfrm>
            <a:prstGeom prst="rect">
              <a:avLst/>
            </a:prstGeom>
          </p:spPr>
        </p:pic>
        <p:sp>
          <p:nvSpPr>
            <p:cNvPr id="6" name="Text 3"/>
            <p:cNvSpPr txBox="1"/>
            <p:nvPr/>
          </p:nvSpPr>
          <p:spPr>
            <a:xfrm>
              <a:off x="685800" y="52120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 / VLM inference</a:t>
              </a:r>
              <a:endParaRPr lang="en-US" sz="1000" dirty="0"/>
            </a:p>
          </p:txBody>
        </p:sp>
        <p:pic>
          <p:nvPicPr>
            <p:cNvPr id="7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344" y="726948"/>
              <a:ext cx="137160" cy="137160"/>
            </a:xfrm>
            <a:prstGeom prst="rect">
              <a:avLst/>
            </a:prstGeom>
          </p:spPr>
        </p:pic>
        <p:sp>
          <p:nvSpPr>
            <p:cNvPr id="8" name="Text 4"/>
            <p:cNvSpPr txBox="1"/>
            <p:nvPr/>
          </p:nvSpPr>
          <p:spPr>
            <a:xfrm>
              <a:off x="685800" y="70408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OCR / IDP</a:t>
              </a:r>
              <a:endParaRPr lang="en-US" sz="1000" dirty="0"/>
            </a:p>
          </p:txBody>
        </p:sp>
        <p:pic>
          <p:nvPicPr>
            <p:cNvPr id="9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344" y="909828"/>
              <a:ext cx="137160" cy="137160"/>
            </a:xfrm>
            <a:prstGeom prst="rect">
              <a:avLst/>
            </a:prstGeom>
          </p:spPr>
        </p:pic>
        <p:sp>
          <p:nvSpPr>
            <p:cNvPr id="10" name="Text 5"/>
            <p:cNvSpPr txBox="1"/>
            <p:nvPr/>
          </p:nvSpPr>
          <p:spPr>
            <a:xfrm>
              <a:off x="685800" y="88696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Gateway &amp; guardrails</a:t>
              </a:r>
              <a:endParaRPr lang="en-US" sz="1000" dirty="0"/>
            </a:p>
          </p:txBody>
        </p:sp>
        <p:pic>
          <p:nvPicPr>
            <p:cNvPr id="11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344" y="1092708"/>
              <a:ext cx="137160" cy="137160"/>
            </a:xfrm>
            <a:prstGeom prst="rect">
              <a:avLst/>
            </a:prstGeom>
          </p:spPr>
        </p:pic>
        <p:sp>
          <p:nvSpPr>
            <p:cNvPr id="12" name="Text 6"/>
            <p:cNvSpPr txBox="1"/>
            <p:nvPr/>
          </p:nvSpPr>
          <p:spPr>
            <a:xfrm>
              <a:off x="685800" y="106984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landing zone</a:t>
              </a:r>
              <a:endParaRPr lang="en-US" sz="1000" dirty="0"/>
            </a:p>
          </p:txBody>
        </p:sp>
        <p:sp>
          <p:nvSpPr>
            <p:cNvPr id="13" name="Shape 7"/>
            <p:cNvSpPr/>
            <p:nvPr/>
          </p:nvSpPr>
          <p:spPr>
            <a:xfrm>
              <a:off x="2852928" y="594360"/>
              <a:ext cx="219456" cy="219456"/>
            </a:xfrm>
            <a:prstGeom prst="rightArrow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</p:sp>
        <p:sp>
          <p:nvSpPr>
            <p:cNvPr id="14" name="Shape 8"/>
            <p:cNvSpPr/>
            <p:nvPr/>
          </p:nvSpPr>
          <p:spPr>
            <a:xfrm>
              <a:off x="3136392" y="109728"/>
              <a:ext cx="8732520" cy="1188720"/>
            </a:xfrm>
            <a:prstGeom prst="roundRect">
              <a:avLst>
                <a:gd name="adj" fmla="val 4615"/>
              </a:avLst>
            </a:prstGeom>
            <a:solidFill>
              <a:srgbClr val="EAF4EC"/>
            </a:solidFill>
            <a:ln w="9525">
              <a:solidFill>
                <a:srgbClr val="8DBF98"/>
              </a:solidFill>
              <a:prstDash val="solid"/>
            </a:ln>
          </p:spPr>
        </p:sp>
        <p:sp>
          <p:nvSpPr>
            <p:cNvPr id="15" name="Text 9"/>
            <p:cNvSpPr txBox="1"/>
            <p:nvPr/>
          </p:nvSpPr>
          <p:spPr>
            <a:xfrm>
              <a:off x="3246120" y="219456"/>
              <a:ext cx="548640" cy="201168"/>
            </a:xfrm>
            <a:prstGeom prst="roundRect">
              <a:avLst>
                <a:gd name="adj" fmla="val 18182"/>
              </a:avLst>
            </a:prstGeom>
            <a:solidFill>
              <a:srgbClr val="1E5631"/>
            </a:solidFill>
            <a:ln>
              <a:solidFill>
                <a:srgbClr val="1E563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spc="15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OREO</a:t>
              </a:r>
              <a:endParaRPr lang="en-US" sz="800" dirty="0"/>
            </a:p>
          </p:txBody>
        </p:sp>
        <p:sp>
          <p:nvSpPr>
            <p:cNvPr id="16" name="Text 10"/>
            <p:cNvSpPr txBox="1"/>
            <p:nvPr/>
          </p:nvSpPr>
          <p:spPr>
            <a:xfrm>
              <a:off x="3867912" y="182880"/>
              <a:ext cx="6720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1E563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Markets domain control layer</a:t>
              </a:r>
              <a:pPr indent="0" marL="0">
                <a:buNone/>
              </a:pPr>
              <a:r>
                <a:rPr lang="en-US" sz="100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turns model outputs into validated, auditable outcomes</a:t>
              </a:r>
              <a:endParaRPr lang="en-US" sz="1300" dirty="0"/>
            </a:p>
          </p:txBody>
        </p:sp>
        <p:sp>
          <p:nvSpPr>
            <p:cNvPr id="17" name="Shape 11"/>
            <p:cNvSpPr/>
            <p:nvPr/>
          </p:nvSpPr>
          <p:spPr>
            <a:xfrm>
              <a:off x="10616184" y="214884"/>
              <a:ext cx="82296" cy="82296"/>
            </a:xfrm>
            <a:prstGeom prst="ellipse">
              <a:avLst/>
            </a:prstGeom>
            <a:solidFill>
              <a:srgbClr val="1E5631"/>
            </a:solidFill>
            <a:ln w="12700">
              <a:solidFill>
                <a:srgbClr val="1E5631"/>
              </a:solidFill>
              <a:prstDash val="solid"/>
            </a:ln>
          </p:spPr>
        </p:sp>
        <p:sp>
          <p:nvSpPr>
            <p:cNvPr id="18" name="Text 12"/>
            <p:cNvSpPr txBox="1"/>
            <p:nvPr/>
          </p:nvSpPr>
          <p:spPr>
            <a:xfrm>
              <a:off x="10753344" y="182880"/>
              <a:ext cx="10058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Domain-owned</a:t>
              </a:r>
              <a:endParaRPr lang="en-US" sz="850" dirty="0"/>
            </a:p>
          </p:txBody>
        </p:sp>
        <p:sp>
          <p:nvSpPr>
            <p:cNvPr id="19" name="Shape 13"/>
            <p:cNvSpPr/>
            <p:nvPr/>
          </p:nvSpPr>
          <p:spPr>
            <a:xfrm>
              <a:off x="10616184" y="36118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E5631"/>
              </a:solidFill>
              <a:prstDash val="solid"/>
            </a:ln>
          </p:spPr>
        </p:sp>
        <p:sp>
          <p:nvSpPr>
            <p:cNvPr id="20" name="Text 14"/>
            <p:cNvSpPr txBox="1"/>
            <p:nvPr/>
          </p:nvSpPr>
          <p:spPr>
            <a:xfrm>
              <a:off x="10753344" y="329184"/>
              <a:ext cx="10058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OREO standard</a:t>
              </a:r>
              <a:endParaRPr lang="en-US" sz="850" dirty="0"/>
            </a:p>
          </p:txBody>
        </p:sp>
        <p:sp>
          <p:nvSpPr>
            <p:cNvPr id="21" name="Shape 15"/>
            <p:cNvSpPr/>
            <p:nvPr/>
          </p:nvSpPr>
          <p:spPr>
            <a:xfrm>
              <a:off x="3246120" y="512064"/>
              <a:ext cx="135788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22" name="Shape 16"/>
            <p:cNvSpPr/>
            <p:nvPr/>
          </p:nvSpPr>
          <p:spPr>
            <a:xfrm>
              <a:off x="3319272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23" name="Image 4" descr="preencoded.png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78708" y="635508"/>
              <a:ext cx="155448" cy="155448"/>
            </a:xfrm>
            <a:prstGeom prst="rect">
              <a:avLst/>
            </a:prstGeom>
          </p:spPr>
        </p:pic>
        <p:sp>
          <p:nvSpPr>
            <p:cNvPr id="24" name="Text 17"/>
            <p:cNvSpPr txBox="1"/>
            <p:nvPr/>
          </p:nvSpPr>
          <p:spPr>
            <a:xfrm>
              <a:off x="3648456" y="548640"/>
              <a:ext cx="9006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Processing packages</a:t>
              </a:r>
              <a:endParaRPr lang="en-US" sz="1050" dirty="0"/>
            </a:p>
          </p:txBody>
        </p:sp>
        <p:sp>
          <p:nvSpPr>
            <p:cNvPr id="25" name="Text 18"/>
            <p:cNvSpPr txBox="1"/>
            <p:nvPr/>
          </p:nvSpPr>
          <p:spPr>
            <a:xfrm>
              <a:off x="3319272" y="896112"/>
              <a:ext cx="12298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Schemas, profiles &amp; prompts per use case</a:t>
              </a:r>
              <a:endParaRPr lang="en-US" sz="950" dirty="0"/>
            </a:p>
          </p:txBody>
        </p:sp>
        <p:sp>
          <p:nvSpPr>
            <p:cNvPr id="26" name="Shape 19"/>
            <p:cNvSpPr/>
            <p:nvPr/>
          </p:nvSpPr>
          <p:spPr>
            <a:xfrm>
              <a:off x="4677156" y="512064"/>
              <a:ext cx="135788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27" name="Shape 20"/>
            <p:cNvSpPr/>
            <p:nvPr/>
          </p:nvSpPr>
          <p:spPr>
            <a:xfrm>
              <a:off x="4750308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28" name="Image 5" descr="preencoded.png">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9744" y="635508"/>
              <a:ext cx="155448" cy="155448"/>
            </a:xfrm>
            <a:prstGeom prst="rect">
              <a:avLst/>
            </a:prstGeom>
          </p:spPr>
        </p:pic>
        <p:sp>
          <p:nvSpPr>
            <p:cNvPr id="29" name="Text 21"/>
            <p:cNvSpPr txBox="1"/>
            <p:nvPr/>
          </p:nvSpPr>
          <p:spPr>
            <a:xfrm>
              <a:off x="5079492" y="548640"/>
              <a:ext cx="9006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Domain validators</a:t>
              </a:r>
              <a:endParaRPr lang="en-US" sz="1050" dirty="0"/>
            </a:p>
          </p:txBody>
        </p:sp>
        <p:sp>
          <p:nvSpPr>
            <p:cNvPr id="30" name="Text 22"/>
            <p:cNvSpPr txBox="1"/>
            <p:nvPr/>
          </p:nvSpPr>
          <p:spPr>
            <a:xfrm>
              <a:off x="4750308" y="896112"/>
              <a:ext cx="12298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BIC, IBAN, ISIN, ISO 4217 + ref data</a:t>
              </a:r>
              <a:endParaRPr lang="en-US" sz="950" dirty="0"/>
            </a:p>
          </p:txBody>
        </p:sp>
        <p:sp>
          <p:nvSpPr>
            <p:cNvPr id="31" name="Shape 23"/>
            <p:cNvSpPr/>
            <p:nvPr/>
          </p:nvSpPr>
          <p:spPr>
            <a:xfrm>
              <a:off x="6108192" y="512064"/>
              <a:ext cx="135788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32" name="Shape 24"/>
            <p:cNvSpPr/>
            <p:nvPr/>
          </p:nvSpPr>
          <p:spPr>
            <a:xfrm>
              <a:off x="6181344" y="57607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33" name="Image 6" descr="preencoded.png">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0780" y="635508"/>
              <a:ext cx="155448" cy="155448"/>
            </a:xfrm>
            <a:prstGeom prst="rect">
              <a:avLst/>
            </a:prstGeom>
          </p:spPr>
        </p:pic>
        <p:sp>
          <p:nvSpPr>
            <p:cNvPr id="34" name="Text 25"/>
            <p:cNvSpPr txBox="1"/>
            <p:nvPr/>
          </p:nvSpPr>
          <p:spPr>
            <a:xfrm>
              <a:off x="6510528" y="548640"/>
              <a:ext cx="9006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Evidence &amp; provenance</a:t>
              </a:r>
              <a:endParaRPr lang="en-US" sz="1050" dirty="0"/>
            </a:p>
          </p:txBody>
        </p:sp>
        <p:sp>
          <p:nvSpPr>
            <p:cNvPr id="35" name="Text 26"/>
            <p:cNvSpPr txBox="1"/>
            <p:nvPr/>
          </p:nvSpPr>
          <p:spPr>
            <a:xfrm>
              <a:off x="6181344" y="896112"/>
              <a:ext cx="12298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Verbatim source citation per field</a:t>
              </a:r>
              <a:endParaRPr lang="en-US" sz="950" dirty="0"/>
            </a:p>
          </p:txBody>
        </p:sp>
        <p:sp>
          <p:nvSpPr>
            <p:cNvPr id="36" name="Shape 27"/>
            <p:cNvSpPr/>
            <p:nvPr/>
          </p:nvSpPr>
          <p:spPr>
            <a:xfrm>
              <a:off x="7539228" y="512064"/>
              <a:ext cx="135788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37" name="Shape 28"/>
            <p:cNvSpPr/>
            <p:nvPr/>
          </p:nvSpPr>
          <p:spPr>
            <a:xfrm>
              <a:off x="7612380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38" name="Image 7" descr="preencoded.png">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71816" y="635508"/>
              <a:ext cx="155448" cy="155448"/>
            </a:xfrm>
            <a:prstGeom prst="rect">
              <a:avLst/>
            </a:prstGeom>
          </p:spPr>
        </p:pic>
        <p:sp>
          <p:nvSpPr>
            <p:cNvPr id="39" name="Text 29"/>
            <p:cNvSpPr txBox="1"/>
            <p:nvPr/>
          </p:nvSpPr>
          <p:spPr>
            <a:xfrm>
              <a:off x="7941564" y="548640"/>
              <a:ext cx="9006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Routing &amp; gating</a:t>
              </a:r>
              <a:endParaRPr lang="en-US" sz="1050" dirty="0"/>
            </a:p>
          </p:txBody>
        </p:sp>
        <p:sp>
          <p:nvSpPr>
            <p:cNvPr id="40" name="Text 30"/>
            <p:cNvSpPr txBox="1"/>
            <p:nvPr/>
          </p:nvSpPr>
          <p:spPr>
            <a:xfrm>
              <a:off x="7612380" y="896112"/>
              <a:ext cx="12298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Straight-through, review or exception</a:t>
              </a:r>
              <a:endParaRPr lang="en-US" sz="950" dirty="0"/>
            </a:p>
          </p:txBody>
        </p:sp>
        <p:sp>
          <p:nvSpPr>
            <p:cNvPr id="41" name="Shape 31"/>
            <p:cNvSpPr/>
            <p:nvPr/>
          </p:nvSpPr>
          <p:spPr>
            <a:xfrm>
              <a:off x="8970264" y="512064"/>
              <a:ext cx="135788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42" name="Shape 32"/>
            <p:cNvSpPr/>
            <p:nvPr/>
          </p:nvSpPr>
          <p:spPr>
            <a:xfrm>
              <a:off x="9043416" y="57607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43" name="Image 8" descr="preencoded.png">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02852" y="635508"/>
              <a:ext cx="155448" cy="155448"/>
            </a:xfrm>
            <a:prstGeom prst="rect">
              <a:avLst/>
            </a:prstGeom>
          </p:spPr>
        </p:pic>
        <p:sp>
          <p:nvSpPr>
            <p:cNvPr id="44" name="Text 33"/>
            <p:cNvSpPr txBox="1"/>
            <p:nvPr/>
          </p:nvSpPr>
          <p:spPr>
            <a:xfrm>
              <a:off x="9372600" y="548640"/>
              <a:ext cx="9006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 envelope</a:t>
              </a:r>
              <a:endParaRPr lang="en-US" sz="1050" dirty="0"/>
            </a:p>
          </p:txBody>
        </p:sp>
        <p:sp>
          <p:nvSpPr>
            <p:cNvPr id="45" name="Text 34"/>
            <p:cNvSpPr txBox="1"/>
            <p:nvPr/>
          </p:nvSpPr>
          <p:spPr>
            <a:xfrm>
              <a:off x="9043416" y="896112"/>
              <a:ext cx="12298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Contract for RATAN, SSI+ &amp; FLOWZERO</a:t>
              </a:r>
              <a:endParaRPr lang="en-US" sz="950" dirty="0"/>
            </a:p>
          </p:txBody>
        </p:sp>
        <p:sp>
          <p:nvSpPr>
            <p:cNvPr id="46" name="Shape 35"/>
            <p:cNvSpPr/>
            <p:nvPr/>
          </p:nvSpPr>
          <p:spPr>
            <a:xfrm>
              <a:off x="10401300" y="512064"/>
              <a:ext cx="135788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47" name="Shape 36"/>
            <p:cNvSpPr/>
            <p:nvPr/>
          </p:nvSpPr>
          <p:spPr>
            <a:xfrm>
              <a:off x="10474452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48" name="Image 9" descr="preencoded.png">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33888" y="635508"/>
              <a:ext cx="155448" cy="155448"/>
            </a:xfrm>
            <a:prstGeom prst="rect">
              <a:avLst/>
            </a:prstGeom>
          </p:spPr>
        </p:pic>
        <p:sp>
          <p:nvSpPr>
            <p:cNvPr id="49" name="Text 37"/>
            <p:cNvSpPr txBox="1"/>
            <p:nvPr/>
          </p:nvSpPr>
          <p:spPr>
            <a:xfrm>
              <a:off x="10803636" y="548640"/>
              <a:ext cx="9006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Correction loop</a:t>
              </a:r>
              <a:endParaRPr lang="en-US" sz="1050" dirty="0"/>
            </a:p>
          </p:txBody>
        </p:sp>
        <p:sp>
          <p:nvSpPr>
            <p:cNvPr id="50" name="Text 38"/>
            <p:cNvSpPr txBox="1"/>
            <p:nvPr/>
          </p:nvSpPr>
          <p:spPr>
            <a:xfrm>
              <a:off x="10474452" y="896112"/>
              <a:ext cx="12298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Corrections → evals → package promotion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OREO capabilities strip"/>
          <p:cNvGrpSpPr/>
          <p:nvPr/>
        </p:nvGrpSpPr>
        <p:grpSpPr>
          <a:xfrm>
            <a:off x="320040" y="109728"/>
            <a:ext cx="11548872" cy="1188720"/>
            <a:chOff x="320040" y="109728"/>
            <a:chExt cx="11548872" cy="1188720"/>
          </a:xfrm>
        </p:grpSpPr>
        <p:sp>
          <p:nvSpPr>
            <p:cNvPr id="2" name="Shape 0"/>
            <p:cNvSpPr/>
            <p:nvPr/>
          </p:nvSpPr>
          <p:spPr>
            <a:xfrm>
              <a:off x="320040" y="109728"/>
              <a:ext cx="1600200" cy="1188720"/>
            </a:xfrm>
            <a:prstGeom prst="roundRect">
              <a:avLst>
                <a:gd name="adj" fmla="val 4615"/>
              </a:avLst>
            </a:prstGeom>
            <a:solidFill>
              <a:srgbClr val="EAF1F8"/>
            </a:solidFill>
            <a:ln w="9525">
              <a:solidFill>
                <a:srgbClr val="A9C1DB"/>
              </a:solidFill>
              <a:prstDash val="solid"/>
            </a:ln>
          </p:spPr>
        </p:sp>
        <p:sp>
          <p:nvSpPr>
            <p:cNvPr id="3" name="Text 1"/>
            <p:cNvSpPr txBox="1"/>
            <p:nvPr/>
          </p:nvSpPr>
          <p:spPr>
            <a:xfrm>
              <a:off x="429768" y="310896"/>
              <a:ext cx="749808" cy="201168"/>
            </a:xfrm>
            <a:prstGeom prst="roundRect">
              <a:avLst>
                <a:gd name="adj" fmla="val 18182"/>
              </a:avLst>
            </a:prstGeom>
            <a:solidFill>
              <a:srgbClr val="1F3A5F"/>
            </a:solidFill>
            <a:ln>
              <a:solidFill>
                <a:srgbClr val="1F3A5F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spc="15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CONSUMED</a:t>
              </a:r>
              <a:endParaRPr lang="en-US" sz="800" dirty="0"/>
            </a:p>
          </p:txBody>
        </p:sp>
        <p:sp>
          <p:nvSpPr>
            <p:cNvPr id="4" name="Text 2"/>
            <p:cNvSpPr txBox="1"/>
            <p:nvPr/>
          </p:nvSpPr>
          <p:spPr>
            <a:xfrm>
              <a:off x="429768" y="621792"/>
              <a:ext cx="138074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1F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Factory</a:t>
              </a:r>
              <a:endParaRPr lang="en-US" sz="1400" dirty="0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429768" y="914400"/>
              <a:ext cx="13807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0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Central AI platform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984248" y="594360"/>
              <a:ext cx="219456" cy="219456"/>
            </a:xfrm>
            <a:prstGeom prst="rightArrow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2267712" y="109728"/>
              <a:ext cx="9601200" cy="1188720"/>
            </a:xfrm>
            <a:prstGeom prst="roundRect">
              <a:avLst>
                <a:gd name="adj" fmla="val 4615"/>
              </a:avLst>
            </a:prstGeom>
            <a:solidFill>
              <a:srgbClr val="EAF4EC"/>
            </a:solidFill>
            <a:ln w="9525">
              <a:solidFill>
                <a:srgbClr val="8DBF9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2377440" y="219456"/>
              <a:ext cx="548640" cy="201168"/>
            </a:xfrm>
            <a:prstGeom prst="roundRect">
              <a:avLst>
                <a:gd name="adj" fmla="val 18182"/>
              </a:avLst>
            </a:prstGeom>
            <a:solidFill>
              <a:srgbClr val="1E5631"/>
            </a:solidFill>
            <a:ln>
              <a:solidFill>
                <a:srgbClr val="1E5631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spc="15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OREO</a:t>
              </a:r>
              <a:endParaRPr lang="en-US" sz="8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2999232" y="182880"/>
              <a:ext cx="7589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1E563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Markets domain control layer</a:t>
              </a:r>
              <a:pPr indent="0" marL="0">
                <a:buNone/>
              </a:pPr>
              <a:r>
                <a:rPr lang="en-US" sz="100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turns model outputs into validated, auditable outcomes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616184" y="214884"/>
              <a:ext cx="82296" cy="82296"/>
            </a:xfrm>
            <a:prstGeom prst="ellipse">
              <a:avLst/>
            </a:prstGeom>
            <a:solidFill>
              <a:srgbClr val="1E5631"/>
            </a:solidFill>
            <a:ln w="12700">
              <a:solidFill>
                <a:srgbClr val="1E5631"/>
              </a:solidFill>
              <a:prstDash val="solid"/>
            </a:ln>
          </p:spPr>
        </p:sp>
        <p:sp>
          <p:nvSpPr>
            <p:cNvPr id="11" name="Text 9"/>
            <p:cNvSpPr txBox="1"/>
            <p:nvPr/>
          </p:nvSpPr>
          <p:spPr>
            <a:xfrm>
              <a:off x="10753344" y="182880"/>
              <a:ext cx="10058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Domain-owned</a:t>
              </a:r>
              <a:endParaRPr lang="en-US" sz="8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0616184" y="36118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E5631"/>
              </a:solidFill>
              <a:prstDash val="solid"/>
            </a:ln>
          </p:spPr>
        </p:sp>
        <p:sp>
          <p:nvSpPr>
            <p:cNvPr id="13" name="Text 11"/>
            <p:cNvSpPr txBox="1"/>
            <p:nvPr/>
          </p:nvSpPr>
          <p:spPr>
            <a:xfrm>
              <a:off x="10753344" y="329184"/>
              <a:ext cx="10058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OREO standard</a:t>
              </a:r>
              <a:endParaRPr lang="en-US" sz="8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377440" y="512064"/>
              <a:ext cx="150266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2450592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16" name="Image 0" descr="preencoded.png">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0028" y="635508"/>
              <a:ext cx="155448" cy="155448"/>
            </a:xfrm>
            <a:prstGeom prst="rect">
              <a:avLst/>
            </a:prstGeom>
          </p:spPr>
        </p:pic>
        <p:sp>
          <p:nvSpPr>
            <p:cNvPr id="17" name="Text 14"/>
            <p:cNvSpPr txBox="1"/>
            <p:nvPr/>
          </p:nvSpPr>
          <p:spPr>
            <a:xfrm>
              <a:off x="2779776" y="548640"/>
              <a:ext cx="10454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Processing packages</a:t>
              </a:r>
              <a:endParaRPr lang="en-US" sz="105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2450592" y="896112"/>
              <a:ext cx="1374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Schemas, profiles &amp; prompts per use case</a:t>
              </a:r>
              <a:endParaRPr lang="en-US" sz="95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3953256" y="512064"/>
              <a:ext cx="150266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20" name="Shape 17"/>
            <p:cNvSpPr/>
            <p:nvPr/>
          </p:nvSpPr>
          <p:spPr>
            <a:xfrm>
              <a:off x="4026408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21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5844" y="635508"/>
              <a:ext cx="155448" cy="155448"/>
            </a:xfrm>
            <a:prstGeom prst="rect">
              <a:avLst/>
            </a:prstGeom>
          </p:spPr>
        </p:pic>
        <p:sp>
          <p:nvSpPr>
            <p:cNvPr id="22" name="Text 18"/>
            <p:cNvSpPr txBox="1"/>
            <p:nvPr/>
          </p:nvSpPr>
          <p:spPr>
            <a:xfrm>
              <a:off x="4355592" y="548640"/>
              <a:ext cx="10454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Domain validators</a:t>
              </a:r>
              <a:endParaRPr lang="en-US" sz="1050" dirty="0"/>
            </a:p>
          </p:txBody>
        </p:sp>
        <p:sp>
          <p:nvSpPr>
            <p:cNvPr id="23" name="Text 19"/>
            <p:cNvSpPr txBox="1"/>
            <p:nvPr/>
          </p:nvSpPr>
          <p:spPr>
            <a:xfrm>
              <a:off x="4026408" y="896112"/>
              <a:ext cx="1374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BIC, IBAN, ISIN, ISO 4217 + ref data</a:t>
              </a:r>
              <a:endParaRPr lang="en-US" sz="95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5529072" y="512064"/>
              <a:ext cx="150266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25" name="Shape 21"/>
            <p:cNvSpPr/>
            <p:nvPr/>
          </p:nvSpPr>
          <p:spPr>
            <a:xfrm>
              <a:off x="5602224" y="57607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26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1660" y="635508"/>
              <a:ext cx="155448" cy="155448"/>
            </a:xfrm>
            <a:prstGeom prst="rect">
              <a:avLst/>
            </a:prstGeom>
          </p:spPr>
        </p:pic>
        <p:sp>
          <p:nvSpPr>
            <p:cNvPr id="27" name="Text 22"/>
            <p:cNvSpPr txBox="1"/>
            <p:nvPr/>
          </p:nvSpPr>
          <p:spPr>
            <a:xfrm>
              <a:off x="5931408" y="548640"/>
              <a:ext cx="10454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Evidence &amp; provenance</a:t>
              </a:r>
              <a:endParaRPr lang="en-US" sz="1050" dirty="0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5602224" y="896112"/>
              <a:ext cx="1374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Verbatim source citation per field</a:t>
              </a:r>
              <a:endParaRPr lang="en-US" sz="950" dirty="0"/>
            </a:p>
          </p:txBody>
        </p:sp>
        <p:sp>
          <p:nvSpPr>
            <p:cNvPr id="29" name="Shape 24"/>
            <p:cNvSpPr/>
            <p:nvPr/>
          </p:nvSpPr>
          <p:spPr>
            <a:xfrm>
              <a:off x="7104888" y="512064"/>
              <a:ext cx="150266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30" name="Shape 25"/>
            <p:cNvSpPr/>
            <p:nvPr/>
          </p:nvSpPr>
          <p:spPr>
            <a:xfrm>
              <a:off x="7178040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31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7476" y="635508"/>
              <a:ext cx="155448" cy="155448"/>
            </a:xfrm>
            <a:prstGeom prst="rect">
              <a:avLst/>
            </a:prstGeom>
          </p:spPr>
        </p:pic>
        <p:sp>
          <p:nvSpPr>
            <p:cNvPr id="32" name="Text 26"/>
            <p:cNvSpPr txBox="1"/>
            <p:nvPr/>
          </p:nvSpPr>
          <p:spPr>
            <a:xfrm>
              <a:off x="7507224" y="548640"/>
              <a:ext cx="10454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Routing &amp; gating</a:t>
              </a:r>
              <a:endParaRPr lang="en-US" sz="105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7178040" y="896112"/>
              <a:ext cx="1374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Straight-through, review or exception</a:t>
              </a:r>
              <a:endParaRPr lang="en-US" sz="950" dirty="0"/>
            </a:p>
          </p:txBody>
        </p:sp>
        <p:sp>
          <p:nvSpPr>
            <p:cNvPr id="34" name="Shape 28"/>
            <p:cNvSpPr/>
            <p:nvPr/>
          </p:nvSpPr>
          <p:spPr>
            <a:xfrm>
              <a:off x="8680704" y="512064"/>
              <a:ext cx="150266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35" name="Shape 29"/>
            <p:cNvSpPr/>
            <p:nvPr/>
          </p:nvSpPr>
          <p:spPr>
            <a:xfrm>
              <a:off x="8753856" y="57607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36" name="Image 4" descr="preencoded.png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3292" y="635508"/>
              <a:ext cx="155448" cy="155448"/>
            </a:xfrm>
            <a:prstGeom prst="rect">
              <a:avLst/>
            </a:prstGeom>
          </p:spPr>
        </p:pic>
        <p:sp>
          <p:nvSpPr>
            <p:cNvPr id="37" name="Text 30"/>
            <p:cNvSpPr txBox="1"/>
            <p:nvPr/>
          </p:nvSpPr>
          <p:spPr>
            <a:xfrm>
              <a:off x="9083040" y="548640"/>
              <a:ext cx="10454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 envelope</a:t>
              </a:r>
              <a:endParaRPr lang="en-US" sz="1050" dirty="0"/>
            </a:p>
          </p:txBody>
        </p:sp>
        <p:sp>
          <p:nvSpPr>
            <p:cNvPr id="38" name="Text 31"/>
            <p:cNvSpPr txBox="1"/>
            <p:nvPr/>
          </p:nvSpPr>
          <p:spPr>
            <a:xfrm>
              <a:off x="8753856" y="896112"/>
              <a:ext cx="1374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Contract for RATAN, SSI+ &amp; FLOWZERO</a:t>
              </a:r>
              <a:endParaRPr lang="en-US" sz="95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10256520" y="512064"/>
              <a:ext cx="1502664" cy="694944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9525">
              <a:solidFill>
                <a:srgbClr val="CFE3D3"/>
              </a:solidFill>
              <a:prstDash val="solid"/>
            </a:ln>
          </p:spPr>
        </p:sp>
        <p:sp>
          <p:nvSpPr>
            <p:cNvPr id="40" name="Shape 33"/>
            <p:cNvSpPr/>
            <p:nvPr/>
          </p:nvSpPr>
          <p:spPr>
            <a:xfrm>
              <a:off x="10329672" y="576072"/>
              <a:ext cx="274320" cy="274320"/>
            </a:xfrm>
            <a:prstGeom prst="ellipse">
              <a:avLst/>
            </a:prstGeom>
            <a:solidFill>
              <a:srgbClr val="1E5631"/>
            </a:solidFill>
            <a:ln w="15875">
              <a:solidFill>
                <a:srgbClr val="1E5631"/>
              </a:solidFill>
              <a:prstDash val="solid"/>
            </a:ln>
          </p:spPr>
        </p:sp>
        <p:pic>
          <p:nvPicPr>
            <p:cNvPr id="41" name="Image 5" descr="preencoded.png">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89108" y="635508"/>
              <a:ext cx="155448" cy="155448"/>
            </a:xfrm>
            <a:prstGeom prst="rect">
              <a:avLst/>
            </a:prstGeom>
          </p:spPr>
        </p:pic>
        <p:sp>
          <p:nvSpPr>
            <p:cNvPr id="42" name="Text 34"/>
            <p:cNvSpPr txBox="1"/>
            <p:nvPr/>
          </p:nvSpPr>
          <p:spPr>
            <a:xfrm>
              <a:off x="10658856" y="548640"/>
              <a:ext cx="10454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Correction loop</a:t>
              </a:r>
              <a:endParaRPr lang="en-US" sz="1050" dirty="0"/>
            </a:p>
          </p:txBody>
        </p:sp>
        <p:sp>
          <p:nvSpPr>
            <p:cNvPr id="43" name="Text 35"/>
            <p:cNvSpPr txBox="1"/>
            <p:nvPr/>
          </p:nvSpPr>
          <p:spPr>
            <a:xfrm>
              <a:off x="10329672" y="896112"/>
              <a:ext cx="1374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Corrections → evals → package promotion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OREO capabilities strip</dc:title>
  <dc:subject>PptxGenJS Presentation</dc:subject>
  <dc:creator>PptxGenJS</dc:creator>
  <cp:lastModifiedBy>PptxGenJS</cp:lastModifiedBy>
  <cp:revision>1</cp:revision>
  <dcterms:created xsi:type="dcterms:W3CDTF">2026-10-13T02:17:05Z</dcterms:created>
  <dcterms:modified xsi:type="dcterms:W3CDTF">2026-10-13T02:17:05Z</dcterms:modified>
</cp:coreProperties>
</file>